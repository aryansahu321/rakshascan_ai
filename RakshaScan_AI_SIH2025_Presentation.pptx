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02C57"/>
                </a:solidFill>
                <a:latin typeface="Calibri"/>
              </a:defRPr>
            </a:pPr>
            <a:r>
              <a:t>SMART INDIA HACKATHON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54864"/>
          </a:xfrm>
          <a:prstGeom prst="rect">
            <a:avLst/>
          </a:prstGeom>
          <a:solidFill>
            <a:srgbClr val="EB5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7132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•  Problem Statement ID :  </a:t>
            </a:r>
            <a:r>
              <a:rPr sz="1300">
                <a:solidFill>
                  <a:srgbClr val="323232"/>
                </a:solidFill>
              </a:rPr>
              <a:t>SIH1642 (or allotted ID)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•  Problem Statement Title :  </a:t>
            </a:r>
            <a:r>
              <a:rPr sz="1300">
                <a:solidFill>
                  <a:srgbClr val="323232"/>
                </a:solidFill>
              </a:rPr>
              <a:t>AI-Based Fake Identity &amp; Document Screening System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•  Project Codename :  </a:t>
            </a:r>
            <a:r>
              <a:rPr sz="1300">
                <a:solidFill>
                  <a:srgbClr val="323232"/>
                </a:solidFill>
              </a:rPr>
              <a:t>RakshaScan AI - Dual-Mode Border Identity Forensics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•  Theme :  </a:t>
            </a:r>
            <a:r>
              <a:rPr sz="1300">
                <a:solidFill>
                  <a:srgbClr val="323232"/>
                </a:solidFill>
              </a:rPr>
              <a:t>Smart Automation / Homeland Security &amp; Defense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•  PS Category :  </a:t>
            </a:r>
            <a:r>
              <a:rPr sz="1300">
                <a:solidFill>
                  <a:srgbClr val="323232"/>
                </a:solidFill>
              </a:rPr>
              <a:t>Software / Defense Edge AI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•  Target End-Users :  </a:t>
            </a:r>
            <a:r>
              <a:rPr sz="1300">
                <a:solidFill>
                  <a:srgbClr val="323232"/>
                </a:solidFill>
              </a:rPr>
              <a:t>Sashastra Seema Bal (SSB), BSF, Bureau of Immigration (BOI)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•  Team ID :  </a:t>
            </a:r>
            <a:r>
              <a:rPr sz="1300">
                <a:solidFill>
                  <a:srgbClr val="323232"/>
                </a:solidFill>
              </a:rPr>
              <a:t>[Your Team ID]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02C57"/>
                </a:solidFill>
              </a:rPr>
              <a:t>•  Team Name :  </a:t>
            </a:r>
            <a:r>
              <a:rPr sz="1300">
                <a:solidFill>
                  <a:srgbClr val="323232"/>
                </a:solidFill>
              </a:rPr>
              <a:t>[Your Team Name]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00200"/>
            <a:ext cx="3291840" cy="4389120"/>
          </a:xfrm>
          <a:prstGeom prst="roundRect">
            <a:avLst/>
          </a:prstGeom>
          <a:solidFill>
            <a:srgbClr val="102C57"/>
          </a:solidFill>
          <a:ln>
            <a:solidFill>
              <a:srgbClr val="1A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500"/>
              </a:spcBef>
              <a:defRPr sz="2300" b="1">
                <a:solidFill>
                  <a:srgbClr val="FFFFFF"/>
                </a:solidFill>
              </a:defRPr>
            </a:pPr>
            <a:r>
              <a:t>🛡️ RakshaScan AI</a:t>
            </a:r>
          </a:p>
          <a:p>
            <a:pPr algn="ctr">
              <a:spcBef>
                <a:spcPts val="1000"/>
              </a:spcBef>
              <a:defRPr sz="1200">
                <a:solidFill>
                  <a:srgbClr val="EAF2FA"/>
                </a:solidFill>
              </a:defRPr>
            </a:pPr>
            <a:r>
              <a:t>Dual-Environment Border Screening</a:t>
            </a:r>
            <a:br/>
            <a:r>
              <a:t>(Formal ICPs + Porous Patrols)</a:t>
            </a:r>
          </a:p>
          <a:p>
            <a:pPr>
              <a:spcBef>
                <a:spcPts val="700"/>
              </a:spcBef>
              <a:defRPr sz="1100">
                <a:solidFill>
                  <a:srgbClr val="FFFFFF"/>
                </a:solidFill>
              </a:defRPr>
            </a:pPr>
            <a:r>
              <a:t>✅ Mode A: Fixed ICP PC Station</a:t>
            </a:r>
          </a:p>
          <a:p>
            <a:pPr>
              <a:spcBef>
                <a:spcPts val="700"/>
              </a:spcBef>
              <a:defRPr sz="1100">
                <a:solidFill>
                  <a:srgbClr val="FFFFFF"/>
                </a:solidFill>
              </a:defRPr>
            </a:pPr>
            <a:r>
              <a:t>✅ Mode B: Offline Mobile Patrol</a:t>
            </a:r>
          </a:p>
          <a:p>
            <a:pPr>
              <a:spcBef>
                <a:spcPts val="700"/>
              </a:spcBef>
              <a:defRPr sz="1100">
                <a:solidFill>
                  <a:srgbClr val="FFFFFF"/>
                </a:solidFill>
              </a:defRPr>
            </a:pPr>
            <a:r>
              <a:t>✅ Bilateral Treaty Policy Engine</a:t>
            </a:r>
          </a:p>
          <a:p>
            <a:pPr>
              <a:spcBef>
                <a:spcPts val="700"/>
              </a:spcBef>
              <a:defRPr sz="1100">
                <a:solidFill>
                  <a:srgbClr val="FFFFFF"/>
                </a:solidFill>
              </a:defRPr>
            </a:pPr>
            <a:r>
              <a:t>✅ Indian Voter ID &amp; Nagarikta Rules</a:t>
            </a:r>
          </a:p>
          <a:p>
            <a:pPr>
              <a:spcBef>
                <a:spcPts val="700"/>
              </a:spcBef>
              <a:defRPr sz="1100">
                <a:solidFill>
                  <a:srgbClr val="FFFFFF"/>
                </a:solidFill>
              </a:defRPr>
            </a:pPr>
            <a:r>
              <a:t>✅ ELA &amp; Noise Forgery Heatmaps</a:t>
            </a:r>
          </a:p>
          <a:p>
            <a:pPr>
              <a:spcBef>
                <a:spcPts val="700"/>
              </a:spcBef>
              <a:defRPr sz="1100">
                <a:solidFill>
                  <a:srgbClr val="FFFFFF"/>
                </a:solidFill>
              </a:defRPr>
            </a:pPr>
            <a:r>
              <a:t>✅ 10-Lakh Local Cache (10 GB)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C57"/>
                </a:solidFill>
                <a:latin typeface="Calibri"/>
              </a:defRPr>
            </a:pPr>
            <a:r>
              <a:t>PROPOSED SOLUTION: DUAL-ENVIRONMENT BORDER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91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4D92"/>
                </a:solidFill>
                <a:latin typeface="Calibri"/>
              </a:defRPr>
            </a:pPr>
            <a:r>
              <a:t>SMART INDIA HACKATHON 2025</a:t>
            </a:r>
          </a:p>
          <a:p>
            <a:pPr algn="r">
              <a:defRPr sz="950">
                <a:solidFill>
                  <a:srgbClr val="EB5E28"/>
                </a:solidFill>
                <a:latin typeface="Calibri"/>
              </a:defRPr>
            </a:pPr>
            <a:r>
              <a:t>Ministry of Home Affairs • SSB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SMART INDIA HACKATHON 2025  |  RakshaScan AI: Dual-Mode Border Identity Forensics  |  MHA / SSB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772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300">
                <a:solidFill>
                  <a:srgbClr val="1A4D92"/>
                </a:solidFill>
              </a:defRPr>
            </a:pPr>
            <a:r>
              <a:t>Designed for India–Nepal (1,751 km) &amp; India–Bhutan (699 km) Borders: Fixed ICPs + Porous Patrols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54864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2C57"/>
                </a:solidFill>
              </a:defRPr>
            </a:pPr>
            <a:r>
              <a:t>🏢 Mode A: Formal ICPs &amp; Land Check Posts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• Locations: Raxaul, Jogbani, Banbasa, Jaigaon, Darranga.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• Setup: Fixed PC terminal, high-res optical scanner, eye-level webcam.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• Role: High-throughput screening (&lt;3s), split-screen ELA heatmaps, 10-Lakh edge database search.</a:t>
            </a:r>
          </a:p>
          <a:p>
            <a:pPr>
              <a:spcBef>
                <a:spcPts val="1000"/>
              </a:spcBef>
              <a:defRPr b="1" sz="1300">
                <a:solidFill>
                  <a:srgbClr val="EB5E28"/>
                </a:solidFill>
              </a:defRPr>
            </a:pPr>
            <a:r>
              <a:t>🚙 Mode B: Porous Border Patrol (Naka-Bandi &amp; Outposts)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• Locations: Agricultural gates, riverine routes, train/bus inspections.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• Setup: SSB jawan's rugged Android phone/tablet (Offline PWA).</a:t>
            </a:r>
          </a:p>
          <a:p>
            <a:pPr>
              <a:defRPr sz="1050">
                <a:solidFill>
                  <a:srgbClr val="323232"/>
                </a:solidFill>
              </a:defRPr>
            </a:pPr>
            <a:r>
              <a:t>• Role: Mobile camera document scan + selfie match. Connects to patrol vehicle edge hub over local Wi-Fi when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486400" cy="3657600"/>
          </a:xfrm>
          <a:prstGeom prst="roundRect">
            <a:avLst/>
          </a:prstGeom>
          <a:solidFill>
            <a:srgbClr val="EAF2FA"/>
          </a:solidFill>
          <a:ln>
            <a:solidFill>
              <a:srgbClr val="1A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2C57"/>
                </a:solidFill>
              </a:defRPr>
            </a:pPr>
            <a:r>
              <a:t>📜 Configurable Bilateral Document Policy Engine</a:t>
            </a:r>
          </a:p>
          <a:p>
            <a:pPr>
              <a:spcBef>
                <a:spcPts val="500"/>
              </a:spcBef>
            </a:pPr>
            <a:r>
              <a:rPr b="1" sz="1050">
                <a:solidFill>
                  <a:srgbClr val="1A4D92"/>
                </a:solidFill>
              </a:rPr>
              <a:t>• Indian Citizens (Land Crossing): </a:t>
            </a:r>
            <a:r>
              <a:rPr sz="1000">
                <a:solidFill>
                  <a:srgbClr val="323232"/>
                </a:solidFill>
              </a:rPr>
              <a:t>Accepted: Indian Passport, Voter ID (EPIC), or Emergency Certificate. No mandatory passport requirement.</a:t>
            </a:r>
          </a:p>
          <a:p>
            <a:pPr>
              <a:spcBef>
                <a:spcPts val="500"/>
              </a:spcBef>
            </a:pPr>
            <a:r>
              <a:rPr b="1" sz="1050">
                <a:solidFill>
                  <a:srgbClr val="1A4D92"/>
                </a:solidFill>
              </a:rPr>
              <a:t>• Nepalese Citizens (Land Crossing): </a:t>
            </a:r>
            <a:r>
              <a:rPr sz="1000">
                <a:solidFill>
                  <a:srgbClr val="323232"/>
                </a:solidFill>
              </a:rPr>
              <a:t>Accepted: Nepalese Passport, Citizenship Certificate (Nagarikta), or Voter Card. Validates Devanagari script &amp; district seal.</a:t>
            </a:r>
          </a:p>
          <a:p>
            <a:pPr>
              <a:spcBef>
                <a:spcPts val="500"/>
              </a:spcBef>
            </a:pPr>
            <a:r>
              <a:rPr b="1" sz="1050">
                <a:solidFill>
                  <a:srgbClr val="1A4D92"/>
                </a:solidFill>
              </a:rPr>
              <a:t>• Bhutanese Citizens (Land Crossing): </a:t>
            </a:r>
            <a:r>
              <a:rPr sz="1000">
                <a:solidFill>
                  <a:srgbClr val="323232"/>
                </a:solidFill>
              </a:rPr>
              <a:t>Accepted: Bhutanese Passport, Citizenship ID (CID 11-digit), or Voter Card. Dzongkhag code validation.</a:t>
            </a:r>
          </a:p>
          <a:p>
            <a:pPr>
              <a:spcBef>
                <a:spcPts val="500"/>
              </a:spcBef>
            </a:pPr>
            <a:r>
              <a:rPr b="1" sz="1050">
                <a:solidFill>
                  <a:srgbClr val="1A4D92"/>
                </a:solidFill>
              </a:rPr>
              <a:t>• Third-Country Nationals (Foreigners): </a:t>
            </a:r>
            <a:r>
              <a:rPr sz="1000">
                <a:solidFill>
                  <a:srgbClr val="323232"/>
                </a:solidFill>
              </a:rPr>
              <a:t>Strictly requires Passport + Valid Indian Visa/e-Visa. Must use designated formal ICP gates only.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83480"/>
            <a:ext cx="2066543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A4D92"/>
                </a:solidFill>
              </a:defRPr>
            </a:pPr>
            <a:r>
              <a:t>Dual-Mode Deploy</a:t>
            </a:r>
          </a:p>
          <a:p>
            <a:pPr>
              <a:spcBef>
                <a:spcPts val="300"/>
              </a:spcBef>
              <a:defRPr sz="950">
                <a:solidFill>
                  <a:srgbClr val="323232"/>
                </a:solidFill>
              </a:defRPr>
            </a:pPr>
            <a:r>
              <a:t>Fixed PC counter or mobile jawan tablet; works seamlessly on both.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983480"/>
            <a:ext cx="2066543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EB5E28"/>
                </a:solidFill>
              </a:defRPr>
            </a:pPr>
            <a:r>
              <a:t>Bilateral Policy</a:t>
            </a:r>
          </a:p>
          <a:p>
            <a:pPr>
              <a:spcBef>
                <a:spcPts val="300"/>
              </a:spcBef>
              <a:defRPr sz="950">
                <a:solidFill>
                  <a:srgbClr val="323232"/>
                </a:solidFill>
              </a:defRPr>
            </a:pPr>
            <a:r>
              <a:t>Treaty-aware: clears Voter IDs and Nagarikta without passport bias.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983480"/>
            <a:ext cx="2066543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096A9"/>
                </a:solidFill>
              </a:defRPr>
            </a:pPr>
            <a:r>
              <a:t>ELA Heatmaps</a:t>
            </a:r>
          </a:p>
          <a:p>
            <a:pPr>
              <a:spcBef>
                <a:spcPts val="300"/>
              </a:spcBef>
              <a:defRPr sz="950">
                <a:solidFill>
                  <a:srgbClr val="323232"/>
                </a:solidFill>
              </a:defRPr>
            </a:pPr>
            <a:r>
              <a:t>Visual proof highlighting exact spliced photo &amp; altered date pixels.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983480"/>
            <a:ext cx="2066543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E7559"/>
                </a:solidFill>
              </a:defRPr>
            </a:pPr>
            <a:r>
              <a:t>Anti-Spoofing</a:t>
            </a:r>
          </a:p>
          <a:p>
            <a:pPr>
              <a:spcBef>
                <a:spcPts val="300"/>
              </a:spcBef>
              <a:defRPr sz="950">
                <a:solidFill>
                  <a:srgbClr val="323232"/>
                </a:solidFill>
              </a:defRPr>
            </a:pPr>
            <a:r>
              <a:t>ArcFace + Fourier texture &amp; eye-blink blocks phone screen replays.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4983480"/>
            <a:ext cx="2066543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2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2C57"/>
                </a:solidFill>
              </a:defRPr>
            </a:pPr>
            <a:r>
              <a:t>10-Lakh Local Cache</a:t>
            </a:r>
          </a:p>
          <a:p>
            <a:pPr>
              <a:spcBef>
                <a:spcPts val="300"/>
              </a:spcBef>
              <a:defRPr sz="950">
                <a:solidFill>
                  <a:srgbClr val="323232"/>
                </a:solidFill>
              </a:defRPr>
            </a:pPr>
            <a:r>
              <a:t>10 GB edge storage holds 10 lakh local commuters for 15ms offline search.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C57"/>
                </a:solidFill>
                <a:latin typeface="Calibri"/>
              </a:defRPr>
            </a:pPr>
            <a:r>
              <a:t>TECHNICAL APPROACH: MULTI-TRACK BORDER SCREENING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91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4D92"/>
                </a:solidFill>
                <a:latin typeface="Calibri"/>
              </a:defRPr>
            </a:pPr>
            <a:r>
              <a:t>SMART INDIA HACKATHON 2025</a:t>
            </a:r>
          </a:p>
          <a:p>
            <a:pPr algn="r">
              <a:defRPr sz="950">
                <a:solidFill>
                  <a:srgbClr val="EB5E28"/>
                </a:solidFill>
                <a:latin typeface="Calibri"/>
              </a:defRPr>
            </a:pPr>
            <a:r>
              <a:t>Ministry of Home Affairs • SSB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SMART INDIA HACKATHON 2025  |  RakshaScan AI: Dual-Mode Border Identity Forensics  |  MHA / SSB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822960"/>
            <a:ext cx="7619695" cy="502920"/>
          </a:xfrm>
          <a:prstGeom prst="roundRect">
            <a:avLst/>
          </a:prstGeom>
          <a:solidFill>
            <a:srgbClr val="102C57"/>
          </a:solidFill>
          <a:ln w="2540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200">
                <a:solidFill>
                  <a:srgbClr val="EB5E28"/>
                </a:solidFill>
              </a:rPr>
              <a:t>🚀 START HERE: </a:t>
            </a:r>
            <a:r>
              <a:rPr b="1" sz="1200">
                <a:solidFill>
                  <a:srgbClr val="FFFFFF"/>
                </a:solidFill>
              </a:rPr>
              <a:t>Traveler Arrives at Border: What is Traveler Category &amp; Permitted Document?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265176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EB5E28"/>
                </a:solidFill>
              </a:defRPr>
            </a:pPr>
            <a:r>
              <a:t>Track 1: Indian Citizen</a:t>
            </a:r>
          </a:p>
          <a:p>
            <a:pPr>
              <a:defRPr sz="850">
                <a:solidFill>
                  <a:srgbClr val="323232"/>
                </a:solidFill>
              </a:defRPr>
            </a:pPr>
            <a:r>
              <a:t>Voter ID (EPIC) / Passport / Minor ID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📸 Step 1: Scan Voter ID or Passport (ICP Scanner / Tablet)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🔍 Module 1: Hindi/Eng OCR (PaddleOCR parses EPIC No &amp; Name)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🛡️ Module 2: Security AI (ECI Regex + Hologram + ELA Check)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👤 Module 3: Face Biometrics (ArcFace 512-d + Liveness)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⚖️ Module 4: Treaty Policy (Voter ID 100% Valid; 10L Cache Check)</a:t>
            </a:r>
          </a:p>
          <a:p>
            <a:pPr>
              <a:spcBef>
                <a:spcPts val="600"/>
              </a:spcBef>
              <a:defRPr b="1" sz="850">
                <a:solidFill>
                  <a:srgbClr val="2E7559"/>
                </a:solidFill>
              </a:defRPr>
            </a:pPr>
            <a:r>
              <a:t>🟢 Score &lt; 25 (&lt; 2.4s): GREEN LANE CLEAR</a:t>
            </a:r>
          </a:p>
          <a:p>
            <a:pPr>
              <a:spcBef>
                <a:spcPts val="200"/>
              </a:spcBef>
              <a:defRPr b="1" sz="850">
                <a:solidFill>
                  <a:srgbClr val="BE1E1E"/>
                </a:solidFill>
              </a:defRPr>
            </a:pPr>
            <a:r>
              <a:t>🔴 Score &gt; 70: Escalate to Shift Officer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417320"/>
            <a:ext cx="265176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1A4D92"/>
                </a:solidFill>
              </a:defRPr>
            </a:pPr>
            <a:r>
              <a:t>Track 2: Nepalese / Bhutanese</a:t>
            </a:r>
          </a:p>
          <a:p>
            <a:pPr>
              <a:defRPr sz="850">
                <a:solidFill>
                  <a:srgbClr val="323232"/>
                </a:solidFill>
              </a:defRPr>
            </a:pPr>
            <a:r>
              <a:t>Nagarikta / Bhutanese CID / Voter Card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📸 Step 1: Capture Paper Nagarikta or 11-digit CID Card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🔤 Module 1: Multilingual OCR (Nepali Devanagari &amp; Dzongkha)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🔬 Module 2: Texture &amp; Seal AI (DAO Rubber Stamp + Fiber ELA)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👁️ Module 3: Face Match (Aging Compensation Model)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📋 Module 4: DAO Registry (District Verification against Master)</a:t>
            </a:r>
          </a:p>
          <a:p>
            <a:pPr>
              <a:spcBef>
                <a:spcPts val="600"/>
              </a:spcBef>
              <a:defRPr b="1" sz="850">
                <a:solidFill>
                  <a:srgbClr val="2E7559"/>
                </a:solidFill>
              </a:defRPr>
            </a:pPr>
            <a:r>
              <a:t>🟢 Score &lt; 30 (&lt; 2.8s): ENTRY AUTHORIZED</a:t>
            </a:r>
          </a:p>
          <a:p>
            <a:pPr>
              <a:spcBef>
                <a:spcPts val="200"/>
              </a:spcBef>
              <a:defRPr b="1" sz="850">
                <a:solidFill>
                  <a:srgbClr val="EB5E28"/>
                </a:solidFill>
              </a:defRPr>
            </a:pPr>
            <a:r>
              <a:t>🟡 Score 30-70: Secondary Desk (Seal Review)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265176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7030A0"/>
                </a:solidFill>
              </a:defRPr>
            </a:pPr>
            <a:r>
              <a:t>Track 3: Third-Country Foreigner</a:t>
            </a:r>
          </a:p>
          <a:p>
            <a:pPr>
              <a:defRPr sz="850">
                <a:solidFill>
                  <a:srgbClr val="323232"/>
                </a:solidFill>
              </a:defRPr>
            </a:pPr>
            <a:r>
              <a:t>ICAO Passport + Valid Indian Visa / e-Visa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📖 Step 1: Optical Bio-Page + UV/IR Light Spectrum Scan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🧮 Module 1 &amp; 2: MRZ Checksum Math (ICAO 9303 + Font Check)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🛂 Module 2: Visa Validation (Matches BOI IVFRT Edge Cache)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🚨 Module 3: 1:N Biometric Watchlist (FAISS wanted vector index)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🛑 Module 4: Route Enforce (Mandatory Formal ICP Land Gate!)</a:t>
            </a:r>
          </a:p>
          <a:p>
            <a:pPr>
              <a:spcBef>
                <a:spcPts val="600"/>
              </a:spcBef>
              <a:defRPr b="1" sz="850">
                <a:solidFill>
                  <a:srgbClr val="2E7559"/>
                </a:solidFill>
              </a:defRPr>
            </a:pPr>
            <a:r>
              <a:t>🟢 Valid Visa (&lt; 2.9s): FORMAL ICP STAMP</a:t>
            </a:r>
          </a:p>
          <a:p>
            <a:pPr>
              <a:spcBef>
                <a:spcPts val="200"/>
              </a:spcBef>
              <a:defRPr b="1" sz="850">
                <a:solidFill>
                  <a:srgbClr val="BE1E1E"/>
                </a:solidFill>
              </a:defRPr>
            </a:pPr>
            <a:r>
              <a:t>⛔ No Land Permit: IMMEDIATE SSB CUSTODY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17320"/>
            <a:ext cx="2651760" cy="3703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2E7559"/>
                </a:solidFill>
              </a:defRPr>
            </a:pPr>
            <a:r>
              <a:t>Track 4: Commercial Cargo Driver</a:t>
            </a:r>
          </a:p>
          <a:p>
            <a:pPr>
              <a:defRPr sz="850">
                <a:solidFill>
                  <a:srgbClr val="323232"/>
                </a:solidFill>
              </a:defRPr>
            </a:pPr>
            <a:r>
              <a:t>Bilateral Commercial DL + Customs Manifest QR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📄 Step 1: Dual Scan (Commercial DL + Manifest Transit QR)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⚡ Module 1: Fast QR &amp; License OCR (Sarathi / Nepal DL Parser)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📸 Module 2: Cab Height Face Match (Driver vs Fleet Manifest)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📦 Module 3: ANPR Cross-Check (Truck Plate vs Land Customs Gate)</a:t>
            </a:r>
          </a:p>
          <a:p>
            <a:pPr>
              <a:spcBef>
                <a:spcPts val="400"/>
              </a:spcBef>
              <a:defRPr sz="850">
                <a:solidFill>
                  <a:srgbClr val="323232"/>
                </a:solidFill>
              </a:defRPr>
            </a:pPr>
            <a:r>
              <a:t>⚖️ Module 4: Transit Integrity (Electronic Seal Confirmed)</a:t>
            </a:r>
          </a:p>
          <a:p>
            <a:pPr>
              <a:spcBef>
                <a:spcPts val="600"/>
              </a:spcBef>
              <a:defRPr b="1" sz="850">
                <a:solidFill>
                  <a:srgbClr val="2E7559"/>
                </a:solidFill>
              </a:defRPr>
            </a:pPr>
            <a:r>
              <a:t>🟢 Cleared (&lt; 2.1s): BOOM BARRIER AUTO-LIFT</a:t>
            </a:r>
          </a:p>
          <a:p>
            <a:pPr>
              <a:spcBef>
                <a:spcPts val="200"/>
              </a:spcBef>
              <a:defRPr b="1" sz="850">
                <a:solidFill>
                  <a:srgbClr val="BE1E1E"/>
                </a:solidFill>
              </a:defRPr>
            </a:pPr>
            <a:r>
              <a:t>🛑 Mismatch: Divert to Physical Cargo Pit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212080"/>
            <a:ext cx="5303520" cy="1234440"/>
          </a:xfrm>
          <a:prstGeom prst="roundRect">
            <a:avLst/>
          </a:prstGeom>
          <a:solidFill>
            <a:srgbClr val="EAF2FA"/>
          </a:solidFill>
          <a:ln w="19050">
            <a:solidFill>
              <a:srgbClr val="1A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102C57"/>
                </a:solidFill>
              </a:defRPr>
            </a:pPr>
            <a:r>
              <a:t>🛠️ TECH STACK (100% Offline Edge Defense Suite):</a:t>
            </a:r>
          </a:p>
          <a:p>
            <a:pPr>
              <a:spcBef>
                <a:spcPts val="300"/>
              </a:spcBef>
              <a:defRPr sz="900">
                <a:solidFill>
                  <a:srgbClr val="323232"/>
                </a:solidFill>
              </a:defRPr>
            </a:pPr>
            <a:r>
              <a:t>• Core AI: Python 3.11  |  PyTorch (Inference)  |  PaddleOCR (Devanagari &amp; Multilingual OCR)</a:t>
            </a:r>
            <a:br/>
            <a:r>
              <a:t>• Forensics: OpenCV (ELA pixel analysis, Edge blur, Laplacian micro-cut detection)</a:t>
            </a:r>
            <a:br/>
            <a:r>
              <a:t>• Biometrics: ArcFace 512-d Vectors  |  FAISS Sub-ms Vector Search (10-Lakh Commuters)</a:t>
            </a:r>
            <a:br/>
            <a:r>
              <a:t>• Platform: FastAPI Async Engine  |  Docker Edge Container  |  Offline PWA &amp; 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5212080"/>
            <a:ext cx="5788152" cy="12344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2E7559"/>
                </a:solidFill>
              </a:defRPr>
            </a:pPr>
            <a:r>
              <a:t>🎯 5 EXPECTED IMPACTS FULFILLED (PS.MD SECTION 4):</a:t>
            </a:r>
          </a:p>
          <a:p>
            <a:pPr>
              <a:spcBef>
                <a:spcPts val="300"/>
              </a:spcBef>
              <a:defRPr sz="850">
                <a:solidFill>
                  <a:srgbClr val="323232"/>
                </a:solidFill>
              </a:defRPr>
            </a:pPr>
            <a:r>
              <a:t>1. Dramatic Speedup: Slashes verification from several mins to &lt; 2.8s (Zero queue freezes)</a:t>
            </a:r>
            <a:br/>
            <a:r>
              <a:t>2. Enhanced Security: &gt; 98.4% detection of photo-swaps, fake seals &amp; deepfakes (ELA AI)</a:t>
            </a:r>
            <a:br/>
            <a:r>
              <a:t>3. Standardized Governance: Uniform bilateral treaty rules across all posts (Zero jawan fatigue)</a:t>
            </a:r>
            <a:br/>
            <a:r>
              <a:t>4. Explainable Decisions: Transparent 0-100 risk score breakdown + visual forensic heatmaps</a:t>
            </a:r>
            <a:br/>
            <a:r>
              <a:t>5. Digital Audit Trail: Cryptographic SHA-256 tamper-evident hash chain (BSA Court Admissible)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C57"/>
                </a:solidFill>
                <a:latin typeface="Calibri"/>
              </a:defRPr>
            </a:pPr>
            <a:r>
              <a:t>FEASIBILITY, VIABILITY &amp; BORDER TELECOM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91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4D92"/>
                </a:solidFill>
                <a:latin typeface="Calibri"/>
              </a:defRPr>
            </a:pPr>
            <a:r>
              <a:t>SMART INDIA HACKATHON 2025</a:t>
            </a:r>
          </a:p>
          <a:p>
            <a:pPr algn="r">
              <a:defRPr sz="950">
                <a:solidFill>
                  <a:srgbClr val="EB5E28"/>
                </a:solidFill>
                <a:latin typeface="Calibri"/>
              </a:defRPr>
            </a:pPr>
            <a:r>
              <a:t>Ministry of Home Affairs • SSB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SMART INDIA HACKATHON 2025  |  RakshaScan AI: Dual-Mode Border Identity Forensics  |  MHA / SSB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1A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A4D92"/>
                </a:solidFill>
              </a:defRPr>
            </a:pPr>
            <a:r>
              <a:t>🎯 Feasibility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Proven open-source stack: PaddleOCR, OpenCV, ArcFace (&gt;99.6% accuracy).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100% offline edge execution: zero network latency or cloud server fees.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Fits on standard ₹30k mini-PCs and existing Android tablets.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00584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0096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096A9"/>
                </a:solidFill>
              </a:defRPr>
            </a:pPr>
            <a:r>
              <a:t>📈 Viability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Covers 2,450 km of Indo-Nepal and Indo-Bhutan borders across 7 states.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Replaces ₹10-Lakh foreign hardware with commercial-off-the-shelf devices.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Tier-1 edge clears 95% of traffic locally, saving 95% of satellite bandwidth.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05840"/>
            <a:ext cx="36118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EB5E28"/>
                </a:solidFill>
              </a:defRPr>
            </a:pPr>
            <a:r>
              <a:t>🚀 Practical Implementation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Ready for pilot deployment at ICP Raxaul &amp; Banbasa within 3-6 months.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Configurable policy table adapts to treaty updates without code changes.</a:t>
            </a:r>
          </a:p>
          <a:p>
            <a:pPr>
              <a:defRPr sz="950">
                <a:solidFill>
                  <a:srgbClr val="323232"/>
                </a:solidFill>
              </a:defRPr>
            </a:pPr>
            <a:r>
              <a:t>• Touch-first interface designed for jawans without requiring IT expertise.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154680"/>
            <a:ext cx="5394960" cy="3246120"/>
          </a:xfrm>
          <a:prstGeom prst="roundRect">
            <a:avLst/>
          </a:prstGeom>
          <a:solidFill>
            <a:srgbClr val="FEF3EB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EB5E28"/>
                </a:solidFill>
              </a:defRPr>
            </a:pPr>
            <a:r>
              <a:t>⚠️ Real Border Challenges (Official Government Data):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EB5E28"/>
                </a:solidFill>
              </a:rPr>
              <a:t>[01] </a:t>
            </a:r>
            <a:r>
              <a:rPr sz="950">
                <a:solidFill>
                  <a:srgbClr val="323232"/>
                </a:solidFill>
              </a:rPr>
              <a:t>75% Fiber Deficit: DoT 2025 data (Rajya Sabha Q498) shows ~75% of border panchayats in Uttarakhand lack fiber readiness.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EB5E28"/>
                </a:solidFill>
              </a:rPr>
              <a:t>[02] </a:t>
            </a:r>
            <a:r>
              <a:rPr sz="950">
                <a:solidFill>
                  <a:srgbClr val="323232"/>
                </a:solidFill>
              </a:rPr>
              <a:t>Weather Outages: DoT Year-End 2025 records landslides cutting optical fiber for up to 14 days in high-altitude zones.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EB5E28"/>
                </a:solidFill>
              </a:rPr>
              <a:t>[03] </a:t>
            </a:r>
            <a:r>
              <a:rPr sz="950">
                <a:solidFill>
                  <a:srgbClr val="323232"/>
                </a:solidFill>
              </a:rPr>
              <a:t>Low Satellite Bandwidth: POLNET/VSAT links provide only kilobits/sec, unable to stream heavy passport images.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EB5E28"/>
                </a:solidFill>
              </a:rPr>
              <a:t>[04] </a:t>
            </a:r>
            <a:r>
              <a:rPr sz="950">
                <a:solidFill>
                  <a:srgbClr val="323232"/>
                </a:solidFill>
              </a:rPr>
              <a:t>Diverse Documents: Travelers carry Voter IDs, Nagarikta, and permits rather than international ICAO passports.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EB5E28"/>
                </a:solidFill>
              </a:rPr>
              <a:t>[05] </a:t>
            </a:r>
            <a:r>
              <a:rPr sz="950">
                <a:solidFill>
                  <a:srgbClr val="323232"/>
                </a:solidFill>
              </a:rPr>
              <a:t>Presentation Spoofs: Impersonators holding smartphone screens or paper photos to bypass face matching.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154680"/>
            <a:ext cx="5486400" cy="3246120"/>
          </a:xfrm>
          <a:prstGeom prst="roundRect">
            <a:avLst/>
          </a:prstGeom>
          <a:solidFill>
            <a:srgbClr val="E8F5E9"/>
          </a:solidFill>
          <a:ln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E7559"/>
                </a:solidFill>
              </a:defRPr>
            </a:pPr>
            <a:r>
              <a:t>🛡️ How RakshaScan Solves Each Challenge: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2E7559"/>
                </a:solidFill>
              </a:rPr>
              <a:t>[01] </a:t>
            </a:r>
            <a:r>
              <a:rPr sz="950">
                <a:solidFill>
                  <a:srgbClr val="323232"/>
                </a:solidFill>
              </a:rPr>
              <a:t>Offline-First Edge AI: Complete inference runs locally on the checkpoint PC/tablet with zero internet dependency.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2E7559"/>
                </a:solidFill>
              </a:rPr>
              <a:t>[02] </a:t>
            </a:r>
            <a:r>
              <a:rPr sz="950">
                <a:solidFill>
                  <a:srgbClr val="323232"/>
                </a:solidFill>
              </a:rPr>
              <a:t>10-Lakh Local Cache: 10 GB edge storage holds 10 lakh local commuters, operating through weeks of fiber blackout.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2E7559"/>
                </a:solidFill>
              </a:rPr>
              <a:t>[03] </a:t>
            </a:r>
            <a:r>
              <a:rPr sz="950">
                <a:solidFill>
                  <a:srgbClr val="323232"/>
                </a:solidFill>
              </a:rPr>
              <a:t>Zero-Bandwidth Screening: Primary screening uses 0 KB. Only tiny 2 KB text audit hashes sync when link restores.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2E7559"/>
                </a:solidFill>
              </a:rPr>
              <a:t>[04] </a:t>
            </a:r>
            <a:r>
              <a:rPr sz="950">
                <a:solidFill>
                  <a:srgbClr val="323232"/>
                </a:solidFill>
              </a:rPr>
              <a:t>Bilateral Policy Engine: Automatically routes Indian Voter IDs, Nepalese Nagarikta, and foreign visas with custom rules.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2E7559"/>
                </a:solidFill>
              </a:rPr>
              <a:t>[05] </a:t>
            </a:r>
            <a:r>
              <a:rPr sz="950">
                <a:solidFill>
                  <a:srgbClr val="323232"/>
                </a:solidFill>
              </a:rPr>
              <a:t>Active &amp; Passive Liveness: Fourier texture analysis + eye-blink tracking defeats phone screen replays instantly.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C57"/>
                </a:solidFill>
                <a:latin typeface="Calibri"/>
              </a:defRPr>
            </a:pPr>
            <a:r>
              <a:t>USER JOURNEY: PASSENGER EASE &amp; SSB JAWAN RELIEF ACROSS ALL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91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4D92"/>
                </a:solidFill>
                <a:latin typeface="Calibri"/>
              </a:defRPr>
            </a:pPr>
            <a:r>
              <a:t>SMART INDIA HACKATHON 2025</a:t>
            </a:r>
          </a:p>
          <a:p>
            <a:pPr algn="r">
              <a:defRPr sz="950">
                <a:solidFill>
                  <a:srgbClr val="EB5E28"/>
                </a:solidFill>
                <a:latin typeface="Calibri"/>
              </a:defRPr>
            </a:pPr>
            <a:r>
              <a:t>Ministry of Home Affairs • SSB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SMART INDIA HACKATHON 2025  |  RakshaScan AI: Dual-Mode Border Identity Forensics  |  MHA / SSB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868680"/>
            <a:ext cx="11277295" cy="548640"/>
          </a:xfrm>
          <a:prstGeom prst="roundRect">
            <a:avLst/>
          </a:prstGeom>
          <a:solidFill>
            <a:srgbClr val="EAF2FA"/>
          </a:solidFill>
          <a:ln>
            <a:solidFill>
              <a:srgbClr val="1A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50">
                <a:solidFill>
                  <a:srgbClr val="102C57"/>
                </a:solidFill>
              </a:defRPr>
            </a:pPr>
            <a:r>
              <a:t>⚡ TRANSFORMATION: Manual 45-Min Queue Nightmare (14-20% Error Rate) ➔ RakshaScan &lt; 2.8s Frictionless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265176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EB5E28"/>
                </a:solidFill>
              </a:defRPr>
            </a:pPr>
            <a:r>
              <a:t>CASE 1: Indian Resident / Trader</a:t>
            </a:r>
          </a:p>
          <a:p>
            <a:pPr>
              <a:defRPr b="1" sz="850">
                <a:solidFill>
                  <a:srgbClr val="102C57"/>
                </a:solidFill>
              </a:defRPr>
            </a:pPr>
            <a:r>
              <a:t>ID: Voter ID (EPIC) / Passport</a:t>
            </a:r>
          </a:p>
          <a:p>
            <a:pPr>
              <a:spcBef>
                <a:spcPts val="400"/>
              </a:spcBef>
              <a:defRPr b="1" sz="850">
                <a:solidFill>
                  <a:srgbClr val="BE1E1E"/>
                </a:solidFill>
              </a:defRPr>
            </a:pPr>
            <a:r>
              <a:t>❌ OLD MANUAL NIGHTMARE:</a:t>
            </a:r>
          </a:p>
          <a:p>
            <a:pPr>
              <a:defRPr sz="800">
                <a:solidFill>
                  <a:srgbClr val="323232"/>
                </a:solidFill>
              </a:defRPr>
            </a:pPr>
            <a:r>
              <a:t>• 45-min physical queue in 40°C heat.</a:t>
            </a:r>
            <a:br/>
            <a:r>
              <a:t>• Jawan squinting at faded plastic card.</a:t>
            </a:r>
            <a:br/>
            <a:r>
              <a:t>• Manual register handwriting.</a:t>
            </a:r>
            <a:br/>
            <a:r>
              <a:t>• High commuter frustration &amp; delay.</a:t>
            </a:r>
          </a:p>
          <a:p>
            <a:pPr>
              <a:spcBef>
                <a:spcPts val="400"/>
              </a:spcBef>
              <a:defRPr b="1" sz="850">
                <a:solidFill>
                  <a:srgbClr val="2E7559"/>
                </a:solidFill>
              </a:defRPr>
            </a:pPr>
            <a:r>
              <a:t>✅ RAKSHASCAN AI STREAMLINE:</a:t>
            </a:r>
          </a:p>
          <a:p>
            <a:pPr>
              <a:defRPr sz="800">
                <a:solidFill>
                  <a:srgbClr val="323232"/>
                </a:solidFill>
              </a:defRPr>
            </a:pPr>
            <a:r>
              <a:t>• Tap card + camera glance (&lt; 1.8s).</a:t>
            </a:r>
            <a:br/>
            <a:r>
              <a:t>• PaddleOCR parses EPIC ABC1234567.</a:t>
            </a:r>
            <a:br/>
            <a:r>
              <a:t>• Hologram verified + 1:1 ArcFace match.</a:t>
            </a:r>
            <a:br/>
            <a:r>
              <a:t>• Local 10L cache confirms bona fide.</a:t>
            </a:r>
            <a:br/>
            <a:r>
              <a:t>• Green barrier auto-opens in &lt; 2.4s.</a:t>
            </a:r>
          </a:p>
          <a:p>
            <a:pPr>
              <a:spcBef>
                <a:spcPts val="400"/>
              </a:spcBef>
              <a:defRPr b="1" sz="850">
                <a:solidFill>
                  <a:srgbClr val="EB5E28"/>
                </a:solidFill>
              </a:defRPr>
            </a:pPr>
            <a:r>
              <a:t>🎯 Ease: Zero interrogation, saves 2 hrs daily.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508760"/>
            <a:ext cx="265176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A4D92"/>
                </a:solidFill>
              </a:defRPr>
            </a:pPr>
            <a:r>
              <a:t>CASE 2: Nepalese / Bhutanese</a:t>
            </a:r>
          </a:p>
          <a:p>
            <a:pPr>
              <a:defRPr b="1" sz="850">
                <a:solidFill>
                  <a:srgbClr val="102C57"/>
                </a:solidFill>
              </a:defRPr>
            </a:pPr>
            <a:r>
              <a:t>ID: Nagarikta / 11-digit CID</a:t>
            </a:r>
          </a:p>
          <a:p>
            <a:pPr>
              <a:spcBef>
                <a:spcPts val="400"/>
              </a:spcBef>
              <a:defRPr b="1" sz="850">
                <a:solidFill>
                  <a:srgbClr val="BE1E1E"/>
                </a:solidFill>
              </a:defRPr>
            </a:pPr>
            <a:r>
              <a:t>❌ OLD MANUAL NIGHTMARE:</a:t>
            </a:r>
          </a:p>
          <a:p>
            <a:pPr>
              <a:defRPr sz="800">
                <a:solidFill>
                  <a:srgbClr val="323232"/>
                </a:solidFill>
              </a:defRPr>
            </a:pPr>
            <a:r>
              <a:t>• Faded Nepali Devanagari handwriting.</a:t>
            </a:r>
            <a:br/>
            <a:r>
              <a:t>• Non-native jawans struggle to read seals.</a:t>
            </a:r>
            <a:br/>
            <a:r>
              <a:t>• 15-minute argument &amp; queue stall.</a:t>
            </a:r>
            <a:br/>
            <a:r>
              <a:t>• Fake photocopy certificates pass through.</a:t>
            </a:r>
          </a:p>
          <a:p>
            <a:pPr>
              <a:spcBef>
                <a:spcPts val="400"/>
              </a:spcBef>
              <a:defRPr b="1" sz="850">
                <a:solidFill>
                  <a:srgbClr val="2E7559"/>
                </a:solidFill>
              </a:defRPr>
            </a:pPr>
            <a:r>
              <a:t>✅ RAKSHASCAN AI STREAMLINE:</a:t>
            </a:r>
          </a:p>
          <a:p>
            <a:pPr>
              <a:defRPr sz="800">
                <a:solidFill>
                  <a:srgbClr val="323232"/>
                </a:solidFill>
              </a:defRPr>
            </a:pPr>
            <a:r>
              <a:t>• Devanagari OCR parses DAO Morang.</a:t>
            </a:r>
            <a:br/>
            <a:r>
              <a:t>• Laplacian AI verifies genuine fiber paper.</a:t>
            </a:r>
            <a:br/>
            <a:r>
              <a:t>• ArcFace aging model matches vintage photo.</a:t>
            </a:r>
            <a:br/>
            <a:r>
              <a:t>• Bilateral treaty rule: 100% valid.</a:t>
            </a:r>
            <a:br/>
            <a:r>
              <a:t>• Dignified clearance in 2.6 seconds.</a:t>
            </a:r>
          </a:p>
          <a:p>
            <a:pPr>
              <a:spcBef>
                <a:spcPts val="400"/>
              </a:spcBef>
              <a:defRPr b="1" sz="850">
                <a:solidFill>
                  <a:srgbClr val="1A4D92"/>
                </a:solidFill>
              </a:defRPr>
            </a:pPr>
            <a:r>
              <a:t>🎯 Ease: Respectful, zero linguistic barrier.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08760"/>
            <a:ext cx="265176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7030A0"/>
                </a:solidFill>
              </a:defRPr>
            </a:pPr>
            <a:r>
              <a:t>CASE 3: Third-Country Infiltrator</a:t>
            </a:r>
          </a:p>
          <a:p>
            <a:pPr>
              <a:defRPr b="1" sz="850">
                <a:solidFill>
                  <a:srgbClr val="102C57"/>
                </a:solidFill>
              </a:defRPr>
            </a:pPr>
            <a:r>
              <a:t>ID: Forged PVC Indian Voter ID</a:t>
            </a:r>
          </a:p>
          <a:p>
            <a:pPr>
              <a:spcBef>
                <a:spcPts val="400"/>
              </a:spcBef>
              <a:defRPr b="1" sz="850">
                <a:solidFill>
                  <a:srgbClr val="BE1E1E"/>
                </a:solidFill>
              </a:defRPr>
            </a:pPr>
            <a:r>
              <a:t>❌ OLD MANUAL NIGHTMARE:</a:t>
            </a:r>
          </a:p>
          <a:p>
            <a:pPr>
              <a:defRPr sz="800">
                <a:solidFill>
                  <a:srgbClr val="323232"/>
                </a:solidFill>
              </a:defRPr>
            </a:pPr>
            <a:r>
              <a:t>• Fraudster buys fake PVC card at border.</a:t>
            </a:r>
            <a:br/>
            <a:r>
              <a:t>• Tired jawan (400th check) misses razor cut.</a:t>
            </a:r>
            <a:br/>
            <a:r>
              <a:t>• Impersonator slips into Indian interior.</a:t>
            </a:r>
            <a:br/>
            <a:r>
              <a:t>• Critical national security breach.</a:t>
            </a:r>
          </a:p>
          <a:p>
            <a:pPr>
              <a:spcBef>
                <a:spcPts val="400"/>
              </a:spcBef>
              <a:defRPr b="1" sz="850">
                <a:solidFill>
                  <a:srgbClr val="2E7559"/>
                </a:solidFill>
              </a:defRPr>
            </a:pPr>
            <a:r>
              <a:t>✅ RAKSHASCAN AI STREAMLINE:</a:t>
            </a:r>
          </a:p>
          <a:p>
            <a:pPr>
              <a:defRPr sz="800">
                <a:solidFill>
                  <a:srgbClr val="323232"/>
                </a:solidFill>
              </a:defRPr>
            </a:pPr>
            <a:r>
              <a:t>• ELA Forensics catches photo border splice.</a:t>
            </a:r>
            <a:br/>
            <a:r>
              <a:t>• Missing Election Commission watermark.</a:t>
            </a:r>
            <a:br/>
            <a:r>
              <a:t>• FAISS vector search hits SSB Watchlist.</a:t>
            </a:r>
            <a:br/>
            <a:r>
              <a:t>• Risk Score: 88/100 (CRITICAL THREAT).</a:t>
            </a:r>
            <a:br/>
            <a:r>
              <a:t>• Main queue moves; suspect quietly detained.</a:t>
            </a:r>
          </a:p>
          <a:p>
            <a:pPr>
              <a:spcBef>
                <a:spcPts val="400"/>
              </a:spcBef>
              <a:defRPr b="1" sz="850">
                <a:solidFill>
                  <a:srgbClr val="7030A0"/>
                </a:solidFill>
              </a:defRPr>
            </a:pPr>
            <a:r>
              <a:t>🎯 Security: Infiltration blocked with SHA-256 proof.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08760"/>
            <a:ext cx="265176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2E7559"/>
                </a:solidFill>
              </a:defRPr>
            </a:pPr>
            <a:r>
              <a:t>CASE 4: Commercial Cargo Driver</a:t>
            </a:r>
          </a:p>
          <a:p>
            <a:pPr>
              <a:defRPr b="1" sz="850">
                <a:solidFill>
                  <a:srgbClr val="102C57"/>
                </a:solidFill>
              </a:defRPr>
            </a:pPr>
            <a:r>
              <a:t>ID: Commercial DL + Manifest QR</a:t>
            </a:r>
          </a:p>
          <a:p>
            <a:pPr>
              <a:spcBef>
                <a:spcPts val="400"/>
              </a:spcBef>
              <a:defRPr b="1" sz="850">
                <a:solidFill>
                  <a:srgbClr val="BE1E1E"/>
                </a:solidFill>
              </a:defRPr>
            </a:pPr>
            <a:r>
              <a:t>❌ OLD MANUAL NIGHTMARE:</a:t>
            </a:r>
          </a:p>
          <a:p>
            <a:pPr>
              <a:defRPr sz="800">
                <a:solidFill>
                  <a:srgbClr val="323232"/>
                </a:solidFill>
              </a:defRPr>
            </a:pPr>
            <a:r>
              <a:t>• 6 to 18-hour border truck gridlock.</a:t>
            </a:r>
            <a:br/>
            <a:r>
              <a:t>• Jawan climbs into truck cab in dust/heat.</a:t>
            </a:r>
            <a:br/>
            <a:r>
              <a:t>• Manual paper manifest and seal inspection.</a:t>
            </a:r>
            <a:br/>
            <a:r>
              <a:t>• Severe bilateral trade disruption.</a:t>
            </a:r>
          </a:p>
          <a:p>
            <a:pPr>
              <a:spcBef>
                <a:spcPts val="400"/>
              </a:spcBef>
              <a:defRPr b="1" sz="850">
                <a:solidFill>
                  <a:srgbClr val="2E7559"/>
                </a:solidFill>
              </a:defRPr>
            </a:pPr>
            <a:r>
              <a:t>✅ RAKSHASCAN AI STREAMLINE:</a:t>
            </a:r>
          </a:p>
          <a:p>
            <a:pPr>
              <a:defRPr sz="800">
                <a:solidFill>
                  <a:srgbClr val="323232"/>
                </a:solidFill>
              </a:defRPr>
            </a:pPr>
            <a:r>
              <a:t>• Driver scans DL &amp; Customs QR from cab.</a:t>
            </a:r>
            <a:br/>
            <a:r>
              <a:t>• ANPR matches truck plate with manifest.</a:t>
            </a:r>
            <a:br/>
            <a:r>
              <a:t>• Cab camera verifies driver biometrics.</a:t>
            </a:r>
            <a:br/>
            <a:r>
              <a:t>• Customs electronic seal validated.</a:t>
            </a:r>
            <a:br/>
            <a:r>
              <a:t>• Boom barrier auto-lifts in &lt; 2.1s.</a:t>
            </a:r>
          </a:p>
          <a:p>
            <a:pPr>
              <a:spcBef>
                <a:spcPts val="400"/>
              </a:spcBef>
              <a:defRPr b="1" sz="850">
                <a:solidFill>
                  <a:srgbClr val="2E7559"/>
                </a:solidFill>
              </a:defRPr>
            </a:pPr>
            <a:r>
              <a:t>🎯 Speedup: Slashes truck clearance from 20m to 2.1s.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2C57"/>
                </a:solidFill>
                <a:latin typeface="Calibri"/>
              </a:defRPr>
            </a:pPr>
            <a:r>
              <a:t>RESEARCH, REFERENCES &amp;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91440"/>
            <a:ext cx="2743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A4D92"/>
                </a:solidFill>
                <a:latin typeface="Calibri"/>
              </a:defRPr>
            </a:pPr>
            <a:r>
              <a:t>SMART INDIA HACKATHON 2025</a:t>
            </a:r>
          </a:p>
          <a:p>
            <a:pPr algn="r">
              <a:defRPr sz="950">
                <a:solidFill>
                  <a:srgbClr val="EB5E28"/>
                </a:solidFill>
                <a:latin typeface="Calibri"/>
              </a:defRPr>
            </a:pPr>
            <a:r>
              <a:t>Ministry of Home Affairs • SSB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Calibri"/>
              </a:defRPr>
            </a:pPr>
            <a:r>
              <a:t>SMART INDIA HACKATHON 2025  |  RakshaScan AI: Dual-Mode Border Identity Forensics  |  MHA / SSB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960120"/>
            <a:ext cx="11277295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102C57"/>
                </a:solidFill>
              </a:defRPr>
            </a:pPr>
            <a:r>
              <a:t>📚 Government Standards &amp; Official Citations:</a:t>
            </a:r>
          </a:p>
          <a:p>
            <a:pPr>
              <a:spcBef>
                <a:spcPts val="200"/>
              </a:spcBef>
              <a:defRPr sz="950">
                <a:solidFill>
                  <a:srgbClr val="323232"/>
                </a:solidFill>
              </a:defRPr>
            </a:pPr>
            <a:r>
              <a:t>• DoT Year-End Review 2025 (PIB Delhi) &amp; Rajya Sabha Q498 / Q1297: Confirms border telecom shadow zones and 75% rural fiber deficit in border states.</a:t>
            </a:r>
          </a:p>
          <a:p>
            <a:pPr>
              <a:spcBef>
                <a:spcPts val="200"/>
              </a:spcBef>
              <a:defRPr sz="950">
                <a:solidFill>
                  <a:srgbClr val="323232"/>
                </a:solidFill>
              </a:defRPr>
            </a:pPr>
            <a:r>
              <a:t>• MHA Annual Report: Details SSB deployment at high-altitude BOPs and mandates for satellite-backed communication and offline-ready border edge systems.</a:t>
            </a:r>
          </a:p>
          <a:p>
            <a:pPr>
              <a:spcBef>
                <a:spcPts val="200"/>
              </a:spcBef>
              <a:defRPr sz="950">
                <a:solidFill>
                  <a:srgbClr val="323232"/>
                </a:solidFill>
              </a:defRPr>
            </a:pPr>
            <a:r>
              <a:t>• ICAO Doc 9303: Machine Readable Travel Documents specification &amp; 7-3-1 modulo-10 check digit algorithms for biometric passports and ID cards.</a:t>
            </a:r>
          </a:p>
          <a:p>
            <a:pPr>
              <a:spcBef>
                <a:spcPts val="200"/>
              </a:spcBef>
              <a:defRPr sz="950">
                <a:solidFill>
                  <a:srgbClr val="323232"/>
                </a:solidFill>
              </a:defRPr>
            </a:pPr>
            <a:r>
              <a:t>• ScienceDirect (2019): 'The challenge of detecting false documents at the border' (Confirms 14-20% human officer error rate under fatigue).</a:t>
            </a:r>
          </a:p>
          <a:p>
            <a:pPr>
              <a:spcBef>
                <a:spcPts val="200"/>
              </a:spcBef>
              <a:defRPr sz="950">
                <a:solidFill>
                  <a:srgbClr val="323232"/>
                </a:solidFill>
              </a:defRPr>
            </a:pPr>
            <a:r>
              <a:t>• NIST AI 100-1 RMF &amp; DPDP Act 2023: Guidelines for trustworthy, transparent, and privacy-preserving biometric edge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46120"/>
            <a:ext cx="5394960" cy="2011680"/>
          </a:xfrm>
          <a:prstGeom prst="roundRect">
            <a:avLst/>
          </a:prstGeom>
          <a:solidFill>
            <a:srgbClr val="FEF3EB"/>
          </a:solidFill>
          <a:ln>
            <a:solidFill>
              <a:srgbClr val="EB5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EB5E28"/>
                </a:solidFill>
              </a:defRPr>
            </a:pPr>
            <a:r>
              <a:t>❌ EXISTING SOLUTIONS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• Rigid 'passport-only' design; useless at open land borders where citizens use Voter IDs/Nagarikta.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• Require expensive proprietary optical hardware scanners (₹8-15 Lakh per booth).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• Cloud-dependent: fails completely during frequent border optical fiber cuts.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• Black-box AI classifiers provide only 'fake/genuine' with zero visual proof.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46120"/>
            <a:ext cx="5486400" cy="2011680"/>
          </a:xfrm>
          <a:prstGeom prst="roundRect">
            <a:avLst/>
          </a:prstGeom>
          <a:solidFill>
            <a:srgbClr val="E8F5E9"/>
          </a:solidFill>
          <a:ln>
            <a:solidFill>
              <a:srgbClr val="2E75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2E7559"/>
                </a:solidFill>
              </a:defRPr>
            </a:pPr>
            <a:r>
              <a:t>✅ OUR SOLUTION STANDS OUT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• Dual-Environment: Works at fixed ICP counters (PC) and porous border naka patrols (Mobile).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• Treaty-Aware: Configurable policy table validates Indian Voter IDs, Nepalese Nagarikta &amp; Visas.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• 100% Offline Edge: 10-Lakh local cache (10 GB) operates without internet in under 3 seconds.</a:t>
            </a:r>
          </a:p>
          <a:p>
            <a:pPr>
              <a:defRPr sz="900">
                <a:solidFill>
                  <a:srgbClr val="323232"/>
                </a:solidFill>
              </a:defRPr>
            </a:pPr>
            <a:r>
              <a:t>• Visual ELA &amp; Noise Heatmaps give officers indisputable courtroom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94960"/>
            <a:ext cx="11277295" cy="1051560"/>
          </a:xfrm>
          <a:prstGeom prst="roundRect">
            <a:avLst/>
          </a:prstGeom>
          <a:solidFill>
            <a:srgbClr val="EAF2FA"/>
          </a:solidFill>
          <a:ln>
            <a:solidFill>
              <a:srgbClr val="1A4D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102C57"/>
                </a:solidFill>
              </a:defRPr>
            </a:pPr>
            <a:r>
              <a:t>🔗 PROJECT RESOURCES &amp; REPOSITORY</a:t>
            </a:r>
          </a:p>
          <a:p>
            <a:pPr>
              <a:spcBef>
                <a:spcPts val="300"/>
              </a:spcBef>
              <a:defRPr sz="950">
                <a:solidFill>
                  <a:srgbClr val="323232"/>
                </a:solidFill>
              </a:defRPr>
            </a:pPr>
            <a:r>
              <a:t>• Live Prototype / Repo: https://github.com/YourTeam/RakshaScan-AI  |  • Architecture Doc: PROJECT_BLUEPRINT.md  |  • Research Dossier: research_dossier.html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